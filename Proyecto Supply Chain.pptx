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B01169-69DB-4EAE-B0ED-B3EFC2929F6F}">
  <a:tblStyle styleId="{DDB01169-69DB-4EAE-B0ED-B3EFC2929F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700" y="2582775"/>
            <a:ext cx="28771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770459" y="3106638"/>
            <a:ext cx="8651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Supply Chain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14487" y="3894236"/>
            <a:ext cx="8963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 Light"/>
                <a:ea typeface="Lato Light"/>
                <a:cs typeface="Lato Light"/>
                <a:sym typeface="Lato Light"/>
              </a:rPr>
              <a:t>Evaluación Integral de Gestión de Compras, Desempeño de Proveedores e Indicadores Logísticos OTIF (2018)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3429" y="2668488"/>
            <a:ext cx="1476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379950" y="6205425"/>
            <a:ext cx="3474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Ing. Maykol Vargas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715000" y="261937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315652" y="2886075"/>
            <a:ext cx="556069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Contexto y Objetivos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667000" y="3781425"/>
            <a:ext cx="685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Optimización del ciclo de aprovisionamiento mediante la transformación de datos transaccionales de compras en decisiones estratégicas cuantificables.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676525"/>
            <a:ext cx="53625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76525"/>
            <a:ext cx="53625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9908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57250" y="3409950"/>
            <a:ext cx="49706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Copo/Estrella (Star Schema)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81952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 estructuró una tabla de hechos principal (</a:t>
            </a: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ORDENES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 272 registros) vinculada mediante relaciones de 1 a Muchos ($1 : *$) con las tablas maestras de dimensión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PROVEEDORES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29908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6600825" y="3409950"/>
            <a:ext cx="49706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Medidas y Expresiones DAX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00825" y="381952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Implementación de cálculos avanzados para determinar volúmenes comprometidos vs. recibidos, cumplimiento de plazos pactados (</a:t>
            </a: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LeadTime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 e indicadores compuestos de calidad de servicio (</a:t>
            </a: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OTIF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Modelado de Datos en Power BI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676525"/>
            <a:ext cx="53625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76525"/>
            <a:ext cx="5362575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33450" y="3067050"/>
            <a:ext cx="45815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$5.83M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33450" y="3905250"/>
            <a:ext cx="4581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Monto Comprometido Total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33450" y="4229100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Capital total asignado en Órdenes de Compra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77025" y="3067050"/>
            <a:ext cx="45815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87.6%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77025" y="3905250"/>
            <a:ext cx="4581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OTIF Global de Cadena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77025" y="4229100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Cumplimiento On-Time &amp; In-Full global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Ejecutivas Globales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38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71525" y="1995487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Monto Comprometido: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$5,831,145 emitidos en órdenes de compra durante el ejercicio.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71525" y="2586037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Monto Recibido: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$5,535,945 efectivamente ingresados en valor económico a bodega.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71525" y="3176587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Balance de Cantidades: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11,436 unidades solicitadas frente a 11,478 unidades recibidas en almacén.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71525" y="3767137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Desviación InFull: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Impacto económico controlado de $27,900 por fluctuaciones en cantidades entregadas.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2005012"/>
            <a:ext cx="2419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42925" y="19573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42925" y="25479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42925" y="31384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42925" y="37290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Volumen Financiero y Físico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3225" y="1995475"/>
            <a:ext cx="5702499" cy="32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5715000" y="261937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440543" y="2886075"/>
            <a:ext cx="731091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Nivel de Servicio y Logística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2667000" y="3781425"/>
            <a:ext cx="685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Evaluación rigurosa de la puntualidad, precisión y adhesión a los tiempos de ciclo contractuales de la base de proveedores.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628900"/>
            <a:ext cx="354969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628900"/>
            <a:ext cx="354969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9524" y="2628900"/>
            <a:ext cx="3549699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819150" y="349567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OnTime: 87.3%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19150" y="3905250"/>
            <a:ext cx="29972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Porcentaje de despachos recibidos dentro de la fecha límite estipulada. Garantiza la continuidad operativa sin retrasos.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4597449" y="349567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InFull: 100.4%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597449" y="3905250"/>
            <a:ext cx="29972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Relación entre volumen físico recibido vs. solicitado. Indica que no hay déficit de stock, registrando ligeros excedentes.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375749" y="349567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 Time: 90.9%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375749" y="3905250"/>
            <a:ext cx="29972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Cumplimiento de la ventana temporal contractual estipulada por el proveedor según país de origen.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952750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449" y="2952750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2952750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Desglose de KPIs Logísticos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219200"/>
            <a:ext cx="1110615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1647825" y="4938712"/>
            <a:ext cx="8896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Mayo, Octubre y Julio representan los picos de mayor inversión de capital en compras, concentrando más del 45% del presupuesto anual.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Monto Comprometido por Mes (2018)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3448050" y="5048250"/>
            <a:ext cx="5295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Base Proveedores: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22 Activos</a:t>
            </a: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 un catálogo total de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29 registrados</a:t>
            </a: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(75.8% de activación).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542925" y="2247900"/>
            <a:ext cx="11106150" cy="2647950"/>
          </a:xfrm>
          <a:prstGeom prst="roundRect">
            <a:avLst>
              <a:gd fmla="val 0" name="adj"/>
            </a:avLst>
          </a:prstGeom>
          <a:solidFill>
            <a:srgbClr val="1C254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1"/>
          <p:cNvGraphicFramePr/>
          <p:nvPr/>
        </p:nvGraphicFramePr>
        <p:xfrm>
          <a:off x="542925" y="2247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{DDB01169-69DB-4EAE-B0ED-B3EFC2929F6F}</a:tableStyleId>
              </a:tblPr>
              <a:tblGrid>
                <a:gridCol w="2995175"/>
                <a:gridCol w="1798575"/>
                <a:gridCol w="3414275"/>
                <a:gridCol w="2888600"/>
              </a:tblGrid>
              <a:tr h="5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 de Órdenes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E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E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Nivel de Cumplimiento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E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Estatus Operativo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E38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Concluidas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110 ODC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94.0% del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Cumplen LeadTime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ODC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90.9% Adherencia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 ODC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5.1% Pendiente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Anuladas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ODC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0.9% Cancelado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1"/>
          <p:cNvSpPr/>
          <p:nvPr/>
        </p:nvSpPr>
        <p:spPr>
          <a:xfrm>
            <a:off x="547687" y="2747962"/>
            <a:ext cx="29951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542853" y="2747962"/>
            <a:ext cx="1798587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341441" y="2747962"/>
            <a:ext cx="34142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8755707" y="2747962"/>
            <a:ext cx="2888605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47687" y="3281362"/>
            <a:ext cx="29951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542853" y="3281362"/>
            <a:ext cx="1798587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341441" y="3281362"/>
            <a:ext cx="34142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755707" y="3281362"/>
            <a:ext cx="2888605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47687" y="3814762"/>
            <a:ext cx="29951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542853" y="3814762"/>
            <a:ext cx="1798587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341441" y="3814762"/>
            <a:ext cx="34142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755707" y="3814762"/>
            <a:ext cx="2888605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47687" y="4348162"/>
            <a:ext cx="29951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542853" y="4348162"/>
            <a:ext cx="1798587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341441" y="4348162"/>
            <a:ext cx="3414266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755707" y="4348162"/>
            <a:ext cx="2888605" cy="9525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6207" y="2905125"/>
            <a:ext cx="1009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6207" y="3438525"/>
            <a:ext cx="7048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6207" y="3971925"/>
            <a:ext cx="762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6207" y="4505325"/>
            <a:ext cx="7143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Gestión de Proveedores y Órdenes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190750"/>
            <a:ext cx="35496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190750"/>
            <a:ext cx="35496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9524" y="2190750"/>
            <a:ext cx="354969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454182" y="4438650"/>
            <a:ext cx="37271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Línea Living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42925" y="4848225"/>
            <a:ext cx="354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LIVING M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lidera el gasto total con $687,680 (684 uds), seguido de LIVING S ($558,800).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232482" y="4438650"/>
            <a:ext cx="37271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Electrónica y TV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321224" y="4848225"/>
            <a:ext cx="354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TV 32" (575 uds) y TV 24" (558 uds) destacan en volumen de rotación en unidades recibidas.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010781" y="4438650"/>
            <a:ext cx="37271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Equipamiento &amp; Otros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099524" y="4848225"/>
            <a:ext cx="354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Modelos como SWT 45AS ($445k) y XPPP 13 ($308k) representan compras de alto valor unitario.</a:t>
            </a:r>
            <a:endParaRPr/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2450" y="2200275"/>
            <a:ext cx="353064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0749" y="2200275"/>
            <a:ext cx="353064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9049" y="2200275"/>
            <a:ext cx="3530649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Demanda por Categoría de Producto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4071937"/>
            <a:ext cx="2554337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430" y="2100262"/>
            <a:ext cx="2554337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935" y="4071937"/>
            <a:ext cx="2554337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4440" y="2100262"/>
            <a:ext cx="2554337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542925" y="3786187"/>
            <a:ext cx="11106150" cy="38100"/>
          </a:xfrm>
          <a:prstGeom prst="rect">
            <a:avLst/>
          </a:prstGeom>
          <a:solidFill>
            <a:srgbClr val="2E3B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49087" y="4233862"/>
            <a:ext cx="23420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Q1 - Homologación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704850" y="4548187"/>
            <a:ext cx="22304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Revisar contratos con los 7 proveedores inactivos y ajustar LeadTimes en sistema.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499592" y="2262187"/>
            <a:ext cx="23420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Q2 - Control OTIF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555355" y="2576512"/>
            <a:ext cx="22304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Establecer penalizaciones a proveedores con OnTime inferior al 85%.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350097" y="4233862"/>
            <a:ext cx="23420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Q3 - Compras Picos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405860" y="4548187"/>
            <a:ext cx="22304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Aplanar la curva de compras de Mayo/Julio/Octubre para optimizar flujo de caja.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200603" y="2262187"/>
            <a:ext cx="23420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Q4 - Automatización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256365" y="2576512"/>
            <a:ext cx="22304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Integración en tiempo real entre Power BI y el ERP para alertas tempranas de stock.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 de Optimización Recomendado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1724843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575348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425853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0276358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